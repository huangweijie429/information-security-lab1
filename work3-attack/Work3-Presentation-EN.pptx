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2395C"/>
                </a:solidFill>
              </a:defRPr>
            </a:pPr>
            <a:r>
              <a:t>SQL Injection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t>Work 3 — modelling an attack as a directed graph</a:t>
            </a:r>
          </a:p>
          <a:p>
            <a:r>
              <a:t>Zhang San · IDU 12345678 · variant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Topic: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CWE-89; OWASP Top 10 2021 A03: Injection</a:t>
            </a:r>
          </a:p>
          <a:p>
            <a:pPr>
              <a:spcAft>
                <a:spcPts val="800"/>
              </a:spcAft>
              <a:defRPr sz="2000"/>
            </a:pPr>
            <a:r>
              <a:t>Input is executed as SQL code -&gt; auth bypass, read/write any table</a:t>
            </a:r>
          </a:p>
          <a:p>
            <a:pPr>
              <a:spcAft>
                <a:spcPts val="800"/>
              </a:spcAft>
              <a:defRPr sz="2000"/>
            </a:pPr>
            <a:r>
              <a:t>Precondition: an input point concatenated into SQL; the more DB privileges, the worse</a:t>
            </a:r>
          </a:p>
          <a:p>
            <a:pPr>
              <a:spcAft>
                <a:spcPts val="800"/>
              </a:spcAft>
              <a:defRPr sz="2000"/>
            </a:pPr>
            <a:r>
              <a:t>Why it: connects directly to Work 1 and Work 2, and the state machine is clean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Attacker's sequence of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1  Recon: crawl, port scan, find endpoints that take strings</a:t>
            </a:r>
          </a:p>
          <a:p>
            <a:pPr>
              <a:spcAft>
                <a:spcPts val="800"/>
              </a:spcAft>
              <a:defRPr sz="2000"/>
            </a:pPr>
            <a:r>
              <a:t>2  Probe: submit a quote, trigger an SQL error, confirm the injection point</a:t>
            </a:r>
          </a:p>
          <a:p>
            <a:pPr>
              <a:spcAft>
                <a:spcPts val="800"/>
              </a:spcAft>
              <a:defRPr sz="2000"/>
            </a:pPr>
            <a:r>
              <a:t>3  Exploit: ' OR 1=1-- to bypass login; UNION SELECT to read the user table</a:t>
            </a:r>
          </a:p>
          <a:p>
            <a:pPr>
              <a:spcAft>
                <a:spcPts val="800"/>
              </a:spcAft>
              <a:defRPr sz="2000"/>
            </a:pPr>
            <a:r>
              <a:t>4  Exfiltrate: sqlmap dump, or page the data out</a:t>
            </a:r>
          </a:p>
          <a:p>
            <a:pPr>
              <a:spcAft>
                <a:spcPts val="800"/>
              </a:spcAft>
              <a:defRPr sz="2000"/>
            </a:pPr>
            <a:r>
              <a:t>5  Destroy: stacked UPDATE / DROP, change prices or delete tables</a:t>
            </a:r>
          </a:p>
          <a:p>
            <a:pPr>
              <a:spcAft>
                <a:spcPts val="800"/>
              </a:spcAft>
              <a:defRPr sz="2000"/>
            </a:pPr>
            <a:r>
              <a:t>6  Blind: boolean/time-based blind injection with SLEEP(), exhausting the pool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graph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11521440" cy="73093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2395C"/>
                </a:solidFill>
              </a:defRPr>
            </a:pPr>
            <a:r>
              <a:t>Directed graph: S0 -&gt; Si -&gt; Sk (each edge = one attacker action)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States and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900"/>
            </a:pPr>
            <a:r>
              <a:t>S0 normal -&gt; S1 recon -&gt; S2 injection point found -&gt; S3 injection succeeded</a:t>
            </a:r>
          </a:p>
          <a:p>
            <a:pPr>
              <a:spcAft>
                <a:spcPts val="800"/>
              </a:spcAft>
              <a:defRPr sz="1900"/>
            </a:pPr>
            <a:r>
              <a:t>S3 -&gt; S4 dump data -&gt; Sk1 information theft</a:t>
            </a:r>
          </a:p>
          <a:p>
            <a:pPr>
              <a:spcAft>
                <a:spcPts val="800"/>
              </a:spcAft>
              <a:defRPr sz="1900"/>
            </a:pPr>
            <a:r>
              <a:t>S3 -&gt; S5 tamper/delete -&gt; Sk2 information modified or lost</a:t>
            </a:r>
          </a:p>
          <a:p>
            <a:pPr>
              <a:spcAft>
                <a:spcPts val="800"/>
              </a:spcAft>
              <a:defRPr sz="1900"/>
            </a:pPr>
            <a:r>
              <a:t>S2 -&gt; S6 blind/heavy queries -&gt; Sk3 denial of service</a:t>
            </a:r>
          </a:p>
          <a:p>
            <a:pPr>
              <a:spcAft>
                <a:spcPts val="800"/>
              </a:spcAft>
              <a:defRPr sz="1900"/>
            </a:pPr>
            <a:r>
              <a:t>Every state has observable evidence: logs, errors, slow queries,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Countermeasures: cut the edges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Prevent: parameterized queries, allow-lists, least-privilege DB account, no verbose errors</a:t>
            </a:r>
          </a:p>
          <a:p>
            <a:pPr>
              <a:spcAft>
                <a:spcPts val="800"/>
              </a:spcAft>
              <a:defRPr sz="2000"/>
            </a:pPr>
            <a:r>
              <a:t>Detect: WAF rules, database auditing, slow-query and connection monitoring</a:t>
            </a:r>
          </a:p>
          <a:p>
            <a:pPr>
              <a:spcAft>
                <a:spcPts val="800"/>
              </a:spcAft>
              <a:defRPr sz="2000"/>
            </a:pPr>
            <a:r>
              <a:t>Respond: force password resets and enable 2FA, restore from backup, rate limit</a:t>
            </a:r>
          </a:p>
          <a:p>
            <a:pPr>
              <a:spcAft>
                <a:spcPts val="800"/>
              </a:spcAft>
              <a:defRPr sz="2000"/>
            </a:pPr>
            <a:r>
              <a:t>Priority: edges closest to S0 are the cheapest to harden with the highest payoff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200"/>
            </a:pPr>
            <a:r>
              <a:t>SQL injection is a broken boundary between data and code</a:t>
            </a:r>
          </a:p>
          <a:p>
            <a:pPr>
              <a:spcAft>
                <a:spcPts val="800"/>
              </a:spcAft>
              <a:defRPr sz="2200"/>
            </a:pPr>
            <a:r>
              <a:t>A directed graph turns a vague narrative into verifiable states and actions</a:t>
            </a:r>
          </a:p>
          <a:p>
            <a:pPr>
              <a:spcAft>
                <a:spcPts val="800"/>
              </a:spcAft>
              <a:defRPr sz="2200"/>
            </a:pPr>
            <a:r>
              <a:t>Every edge is both an attack step and a place to break the attack</a:t>
            </a:r>
          </a:p>
          <a:p>
            <a:pPr>
              <a:spcAft>
                <a:spcPts val="800"/>
              </a:spcAft>
              <a:defRPr sz="2200"/>
            </a:pPr>
            <a:r>
              <a:t>The same attack can be drawn differently, but S0 and Sk must stay 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