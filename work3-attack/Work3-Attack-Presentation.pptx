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>
                <a:solidFill>
                  <a:srgbClr val="12395C"/>
                </a:solidFill>
              </a:defRPr>
            </a:pPr>
            <a:r>
              <a:t>SQL 注入攻击分析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>
                <a:solidFill>
                  <a:srgbClr val="52606D"/>
                </a:solidFill>
              </a:defRPr>
            </a:pPr>
            <a:r>
              <a:t>Work 3 — 计算机攻击的有向图建模</a:t>
            </a:r>
          </a:p>
          <a:p>
            <a:r>
              <a:t>Zhang San · IDU 12345678 · variant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12395C"/>
                </a:solidFill>
              </a:defRPr>
            </a:pPr>
            <a:r>
              <a:t>选题：SQL 注入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  <a:defRPr sz="2000"/>
            </a:pPr>
            <a:r>
              <a:t>CWE-89；OWASP Top 10 2021 A03: Injection</a:t>
            </a:r>
          </a:p>
          <a:p>
            <a:pPr>
              <a:spcAft>
                <a:spcPts val="800"/>
              </a:spcAft>
              <a:defRPr sz="2000"/>
            </a:pPr>
            <a:r>
              <a:t>输入被当作 SQL 代码执行 → 绕过认证、读写任意表</a:t>
            </a:r>
          </a:p>
          <a:p>
            <a:pPr>
              <a:spcAft>
                <a:spcPts val="800"/>
              </a:spcAft>
              <a:defRPr sz="2000"/>
            </a:pPr>
            <a:r>
              <a:t>前提：存在拼接 SQL 的输入点；数据库账号权限越大后果越重</a:t>
            </a:r>
          </a:p>
          <a:p>
            <a:pPr>
              <a:spcAft>
                <a:spcPts val="800"/>
              </a:spcAft>
              <a:defRPr sz="2000"/>
            </a:pPr>
            <a:r>
              <a:t>为什么选它：与 Work 1/2 的知识点直接衔接，状态机清晰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12395C"/>
                </a:solidFill>
              </a:defRPr>
            </a:pPr>
            <a:r>
              <a:t>攻击者动作序列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  <a:defRPr sz="2000"/>
            </a:pPr>
            <a:r>
              <a:t>1  踩点：爬站、端口扫描，找出接受字符串参数的接口</a:t>
            </a:r>
          </a:p>
          <a:p>
            <a:pPr>
              <a:spcAft>
                <a:spcPts val="800"/>
              </a:spcAft>
              <a:defRPr sz="2000"/>
            </a:pPr>
            <a:r>
              <a:t>2  探测：提交单引号，触发 SQL 报错，确认注入点</a:t>
            </a:r>
          </a:p>
          <a:p>
            <a:pPr>
              <a:spcAft>
                <a:spcPts val="800"/>
              </a:spcAft>
              <a:defRPr sz="2000"/>
            </a:pPr>
            <a:r>
              <a:t>3  利用：' OR 1=1-- 绕过登录；UNION SELECT 读取用户表</a:t>
            </a:r>
          </a:p>
          <a:p>
            <a:pPr>
              <a:spcAft>
                <a:spcPts val="800"/>
              </a:spcAft>
              <a:defRPr sz="2000"/>
            </a:pPr>
            <a:r>
              <a:t>4  外泄：sqlmap 批量 dump，或分页带出数据</a:t>
            </a:r>
          </a:p>
          <a:p>
            <a:pPr>
              <a:spcAft>
                <a:spcPts val="800"/>
              </a:spcAft>
              <a:defRPr sz="2000"/>
            </a:pPr>
            <a:r>
              <a:t>5  破坏：堆叠查询 UPDATE / DROP，篡改价格或删表</a:t>
            </a:r>
          </a:p>
          <a:p>
            <a:pPr>
              <a:spcAft>
                <a:spcPts val="800"/>
              </a:spcAft>
              <a:defRPr sz="2000"/>
            </a:pPr>
            <a:r>
              <a:t>6  盲注：布尔/时间盲注 + SLEEP()，同时拖垮连接池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i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411480"/>
            <a:ext cx="11521440" cy="730930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0040" y="45720"/>
            <a:ext cx="11521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2395C"/>
                </a:solidFill>
              </a:defRPr>
            </a:pPr>
            <a:r>
              <a:t>有向图：S0 → Si → Sk（每条边 = 一个攻击者动作）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12395C"/>
                </a:solidFill>
              </a:defRPr>
            </a:pPr>
            <a:r>
              <a:t>状态与判定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  <a:defRPr sz="1900"/>
            </a:pPr>
            <a:r>
              <a:t>S0 正常 → S1 侦察 → S2 确认注入点 → S3 注入成功</a:t>
            </a:r>
          </a:p>
          <a:p>
            <a:pPr>
              <a:spcAft>
                <a:spcPts val="800"/>
              </a:spcAft>
              <a:defRPr sz="1900"/>
            </a:pPr>
            <a:r>
              <a:t>S3 → S4 导出数据 → Sk1 信息窃取</a:t>
            </a:r>
          </a:p>
          <a:p>
            <a:pPr>
              <a:spcAft>
                <a:spcPts val="800"/>
              </a:spcAft>
              <a:defRPr sz="1900"/>
            </a:pPr>
            <a:r>
              <a:t>S3 → S5 篡改/删除 → Sk2 信息被修改或丢失</a:t>
            </a:r>
          </a:p>
          <a:p>
            <a:pPr>
              <a:spcAft>
                <a:spcPts val="800"/>
              </a:spcAft>
              <a:defRPr sz="1900"/>
            </a:pPr>
            <a:r>
              <a:t>S2 → S6 盲注/重查询 → Sk3 拒绝服务</a:t>
            </a:r>
          </a:p>
          <a:p>
            <a:pPr>
              <a:spcAft>
                <a:spcPts val="800"/>
              </a:spcAft>
              <a:defRPr sz="1900"/>
            </a:pPr>
            <a:r>
              <a:t>每个状态都有可观测判据：日志、错误、慢查询、流量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12395C"/>
                </a:solidFill>
              </a:defRPr>
            </a:pPr>
            <a:r>
              <a:t>对策：按边切断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  <a:defRPr sz="2000"/>
            </a:pPr>
            <a:r>
              <a:t>预防：参数化查询、白名单、最小权限数据库账号、关闭详细报错</a:t>
            </a:r>
          </a:p>
          <a:p>
            <a:pPr>
              <a:spcAft>
                <a:spcPts val="800"/>
              </a:spcAft>
              <a:defRPr sz="2000"/>
            </a:pPr>
            <a:r>
              <a:t>检测：WAF 规则、数据库审计、慢查询与连接数监控</a:t>
            </a:r>
          </a:p>
          <a:p>
            <a:pPr>
              <a:spcAft>
                <a:spcPts val="800"/>
              </a:spcAft>
              <a:defRPr sz="2000"/>
            </a:pPr>
            <a:r>
              <a:t>响应：强制重置口令并启用 2FA、从备份恢复、限流熔断</a:t>
            </a:r>
          </a:p>
          <a:p>
            <a:pPr>
              <a:spcAft>
                <a:spcPts val="800"/>
              </a:spcAft>
              <a:defRPr sz="2000"/>
            </a:pPr>
            <a:r>
              <a:t>优先级：越靠近 S0 的边，加固成本越低、收益越大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12395C"/>
                </a:solidFill>
              </a:defRPr>
            </a:pPr>
            <a:r>
              <a:t>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  <a:defRPr sz="2200"/>
            </a:pPr>
            <a:r>
              <a:t>SQL 注入的本质是「数据与代码的边界被打破」</a:t>
            </a:r>
          </a:p>
          <a:p>
            <a:pPr>
              <a:spcAft>
                <a:spcPts val="800"/>
              </a:spcAft>
              <a:defRPr sz="2200"/>
            </a:pPr>
            <a:r>
              <a:t>有向图把模糊的叙事拆成可验证的状态与动作</a:t>
            </a:r>
          </a:p>
          <a:p>
            <a:pPr>
              <a:spcAft>
                <a:spcPts val="800"/>
              </a:spcAft>
              <a:defRPr sz="2200"/>
            </a:pPr>
            <a:r>
              <a:t>每条边既是一个攻击步骤，也是一个可加固的断点</a:t>
            </a:r>
          </a:p>
          <a:p>
            <a:pPr>
              <a:spcAft>
                <a:spcPts val="800"/>
              </a:spcAft>
              <a:defRPr sz="2200"/>
            </a:pPr>
            <a:r>
              <a:t>同一攻击可因策略不同画出不同的图，但 S0 与 Sk 必须稳定定义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